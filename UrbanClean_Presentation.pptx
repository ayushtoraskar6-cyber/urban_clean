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INTRO: Greet the panel. State: 'Good morning/afternoon. I am Ayush Toraskar, Roll No. CS-9147, TY BSc CS. I am presenting my mini-project: UrbanClean -- a Geospatial Smart City Waste Management and Route Optimization System.'</a:t>
            </a:r>
          </a:p>
          <a:p/>
          <a:p>
            <a:r>
              <a:t>Key talking points:</a:t>
            </a:r>
          </a:p>
          <a:p>
            <a:r>
              <a:t>- The system addresses urban waste mismanagement using geospatial technology.</a:t>
            </a:r>
          </a:p>
          <a:p>
            <a:r>
              <a:t>- Built with Node.js backend, Leaflet.js maps, OSRM road routing, and TSP waypoint ordering.</a:t>
            </a:r>
          </a:p>
          <a:p>
            <a:r>
              <a:t>- Supports 4 user roles: Guest, Citizen, Driver, Admin.</a:t>
            </a:r>
          </a:p>
          <a:p>
            <a:r>
              <a:t>- Designed for D.G. Ruparel College BSc CS Mini Project 2026-27.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UrbanClean is not just a complaint portal -- it is an end-to-end operations system.</a:t>
            </a:r>
          </a:p>
          <a:p/>
          <a:p>
            <a:r>
              <a:t>Mention the 4-role architecture: Guest, Citizen, Driver, Admin.</a:t>
            </a:r>
          </a:p>
          <a:p>
            <a:r>
              <a:t>Emphasize that complaints are geo-tagged (latitude/longitude captured from browser).</a:t>
            </a:r>
          </a:p>
          <a:p>
            <a:r>
              <a:t>Driver route optimization uses TWO distinct algorithms:</a:t>
            </a:r>
          </a:p>
          <a:p>
            <a:r>
              <a:t>  1. TSP (Nearest-Neighbor Heuristic) -- determines ORDER of waypoints</a:t>
            </a:r>
          </a:p>
          <a:p>
            <a:r>
              <a:t>  2. OSRM (Open Source Routing Machine) -- provides road-based geometry and distance</a:t>
            </a:r>
          </a:p>
          <a:p>
            <a:r>
              <a:t>Current DB: JSON (db.json) + SQLite mirror | Production target: PostgreSQL + PostGIS.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Be ready to explain why each problem is significant.</a:t>
            </a:r>
          </a:p>
          <a:p/>
          <a:p>
            <a:r>
              <a:t>Problem 1 (No Reporting): Currently citizens call or physically visit offices -- very inefficient.</a:t>
            </a:r>
          </a:p>
          <a:p>
            <a:r>
              <a:t>Problem 2 (Routes): Fixed routes ignore real-time data -- driver may empty half-filled bins while overflowing bins exist elsewhere.</a:t>
            </a:r>
          </a:p>
          <a:p>
            <a:r>
              <a:t>Problem 3 (Accountability): Without tracking, there is no way to verify if a complaint was resolved.</a:t>
            </a:r>
          </a:p>
          <a:p>
            <a:r>
              <a:t>Problem 4 (Data Silos): Our system unifies complaints, drivers, and routes in one platform.</a:t>
            </a:r>
          </a:p>
          <a:p>
            <a:r>
              <a:t>Problem 5 (Resources): Our TSP optimization addresses exactly this -- route based on actual complaint locations.</a:t>
            </a:r>
          </a:p>
          <a:p>
            <a:r>
              <a:t>Problem 6 (Transparency): Public dashboard (Guest view) shows live complaint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This slide shows the core value proposition of UrbanClean.</a:t>
            </a:r>
          </a:p>
          <a:p/>
          <a:p>
            <a:r>
              <a:t>Key comparisons to emphasize:</a:t>
            </a:r>
          </a:p>
          <a:p>
            <a:r>
              <a:t>- Manual -&gt; Digital: Complaint reporting becomes geo-tagged and photo-evidenced.</a:t>
            </a:r>
          </a:p>
          <a:p>
            <a:r>
              <a:t>- Fixed routes -&gt; Dynamic TSP routes: Route changes daily based on actual complaints.</a:t>
            </a:r>
          </a:p>
          <a:p>
            <a:r>
              <a:t>- OSRM: This is an ADDITIONAL layer on top of TSP -- OSRM gives road-level paths between waypoints.</a:t>
            </a:r>
          </a:p>
          <a:p>
            <a:r>
              <a:t>- PostgreSQL + PostGIS is the PROPOSED upgrade; current system runs on JSON + SQLite.</a:t>
            </a:r>
          </a:p>
          <a:p>
            <a:r>
              <a:t>If asked: 'Why not implement PostgreSQL now?' -- Answer: SQLite is sufficient for the prototype; PostGIS would be needed for production-scale spatial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Walk through 2-3 key objectives if asked.</a:t>
            </a:r>
          </a:p>
          <a:p/>
          <a:p>
            <a:r>
              <a:t>O2 + O3 together are critical -- TSP orders the stops, OSRM draws road paths between them.</a:t>
            </a:r>
          </a:p>
          <a:p>
            <a:r>
              <a:t>O6 (Route Locking) is a unique feature: once driver locks route, complaints are tagged 'assigned_today'.</a:t>
            </a:r>
          </a:p>
          <a:p>
            <a:r>
              <a:t>O8 shows architectural foresight -- designed to scale without major rework.</a:t>
            </a:r>
          </a:p>
          <a:p>
            <a:r>
              <a:t>If asked about O4 (access control): We use session-based auth stored in db.json accounts store. Passwords use bcrypt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The 4-role architecture is a key design decision.</a:t>
            </a:r>
          </a:p>
          <a:p/>
          <a:p>
            <a:r>
              <a:t>Guest: Anyone can view the public map -- no login. This ensures transparency.</a:t>
            </a:r>
          </a:p>
          <a:p>
            <a:r>
              <a:t>Citizen: Submits complaints. Geo-location is captured from the browser (navigator.geolocation).</a:t>
            </a:r>
          </a:p>
          <a:p>
            <a:r>
              <a:t>Driver: Uses the route optimization portal. Can lock route to commit to the day's plan.</a:t>
            </a:r>
          </a:p>
          <a:p>
            <a:r>
              <a:t>Admin: Has full CRUD access. Can assign, escalate, or close complaints.</a:t>
            </a:r>
          </a:p>
          <a:p>
            <a:r>
              <a:t>If asked about authentication: Signup/login via /api/signup and /api/login. Passwords stored as bcrypt hashes in accounts store in db.json.</a:t>
            </a:r>
          </a:p>
          <a:p>
            <a:r>
              <a:t>If asked about role separation: Role stored in account record. Frontend checks role on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Be able to explain each module briefly.</a:t>
            </a:r>
          </a:p>
          <a:p/>
          <a:p>
            <a:r>
              <a:t>M1 -- Complaint Management: The core of the system. Know the REST endpoints.</a:t>
            </a:r>
          </a:p>
          <a:p>
            <a:r>
              <a:t>M2 -- Mapping: Leaflet.js is a lightweight open-source JS mapping library using OpenStreetMap tiles.</a:t>
            </a:r>
          </a:p>
          <a:p>
            <a:r>
              <a:t>M3 -- Route Optimization: TWO DISTINCT systems -- TSP (internal algorithm) + OSRM (external API).</a:t>
            </a:r>
          </a:p>
          <a:p>
            <a:r>
              <a:t>M4 -- Accounts: bcrypt ensures passwords are never stored in plaintext.</a:t>
            </a:r>
          </a:p>
          <a:p>
            <a:r>
              <a:t>M5 -- Admin: Admin is the 'super user' -- only admin can change complaint assignments.</a:t>
            </a:r>
          </a:p>
          <a:p/>
          <a:p>
            <a:r>
              <a:t>If asked: 'What is the difference between TSP and OSRM?'</a:t>
            </a:r>
          </a:p>
          <a:p>
            <a:r>
              <a:t>TSP = decides the ORDER to visit complaint locations.</a:t>
            </a:r>
          </a:p>
          <a:p>
            <a:r>
              <a:t>OSRM = draws the ACTUAL ROAD PATH between those 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The architecture is a standard 3-tier web application.</a:t>
            </a:r>
          </a:p>
          <a:p/>
          <a:p>
            <a:r>
              <a:t>Tier 1 (Presentation): HTML/CSS/JS frontend. No framework -- vanilla JS for full control.</a:t>
            </a:r>
          </a:p>
          <a:p>
            <a:r>
              <a:t>Tier 2 (Application): Node.js + Express backend. RESTful API on port 3000.</a:t>
            </a:r>
          </a:p>
          <a:p>
            <a:r>
              <a:t>Tier 3 (Data): db.json is the primary runtime store. SQLite is a read-optimized mirror.</a:t>
            </a:r>
          </a:p>
          <a:p>
            <a:r>
              <a:t>sync_sqlite.py: Called automatically inside writeDB() every time db.json is updated.</a:t>
            </a:r>
          </a:p>
          <a:p>
            <a:r>
              <a:t>OSRM + OpenStreetMap: External APIs -- no cost, open source.</a:t>
            </a:r>
          </a:p>
          <a:p>
            <a:r>
              <a:t>If asked about backend choice: Node.js chosen for event-driven I/O, fast prototyping, and compatibility with frontend JS ecosystem.</a:t>
            </a:r>
          </a:p>
          <a:p>
            <a:r>
              <a:t>ESM modules: package.json has 'type': 'module' -- uses import/export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Walk through each stage clearly.</a:t>
            </a:r>
          </a:p>
          <a:p/>
          <a:p>
            <a:r>
              <a:t>Stage 1: Citizen uses browser geolocation API. Photo uploaded via Multer to /backend/uploads/.</a:t>
            </a:r>
          </a:p>
          <a:p>
            <a:r>
              <a:t>Stage 2: Complaint stored as JSON object in db.json complaints array. Status field = 'pending'.</a:t>
            </a:r>
          </a:p>
          <a:p>
            <a:r>
              <a:t>Stage 3: Admin uses PATCH /api/complaints/:id to update status and assign driverId.</a:t>
            </a:r>
          </a:p>
          <a:p>
            <a:r>
              <a:t>Stage 4: Driver generates route. TSP orders complaints by nearest-neighbor. OSRM fetches road paths.</a:t>
            </a:r>
          </a:p>
          <a:p>
            <a:r>
              <a:t>Stage 5: PATCH status to 'resolved'. sync_sqlite.py triggers automatically to update SQLite mirror.</a:t>
            </a:r>
          </a:p>
          <a:p/>
          <a:p>
            <a:r>
              <a:t>If asked about photo storage: Stored on server filesystem in backend/uploads/. Filename saved as 'photo' field in complaint object. URL served as /uploads/&lt;filename&gt;.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CRITICAL SLIDE -- This is the most technically nuanced slide. Know it thoroughly.</a:t>
            </a:r>
          </a:p>
          <a:p/>
          <a:p>
            <a:r>
              <a:t>TSP answers: 'In what ORDER should the driver visit complaint locations?'</a:t>
            </a:r>
          </a:p>
          <a:p>
            <a:r>
              <a:t>  - Uses Nearest-Neighbor: start at driver location, always go to closest unvisited complaint.</a:t>
            </a:r>
          </a:p>
          <a:p>
            <a:r>
              <a:t>  - This is an APPROXIMATION algorithm -- not guaranteed to be globally optimal, but fast.</a:t>
            </a:r>
          </a:p>
          <a:p>
            <a:r>
              <a:t>  - Runs entirely in JavaScript (client-side in script.js).</a:t>
            </a:r>
          </a:p>
          <a:p/>
          <a:p>
            <a:r>
              <a:t>OSRM answers: 'What is the ACTUAL ROAD PATH between those ordered locations?'</a:t>
            </a:r>
          </a:p>
          <a:p>
            <a:r>
              <a:t>  - Makes an HTTP request to router.project-osrm.org with the TSP-ordered waypoints.</a:t>
            </a:r>
          </a:p>
          <a:p>
            <a:r>
              <a:t>  - Returns a GeoJSON LineString that follows actual roads, not straight lines.</a:t>
            </a:r>
          </a:p>
          <a:p>
            <a:r>
              <a:t>  - Also provides total road distance and estimated duration.</a:t>
            </a:r>
          </a:p>
          <a:p/>
          <a:p>
            <a:r>
              <a:t>The PIPELINE: Complaint locations -&gt; TSP orders them -&gt; OSRM draws road route between ordered stops.</a:t>
            </a:r>
          </a:p>
          <a:p/>
          <a:p>
            <a:r>
              <a:t>Fuel savings (22-32%) is a DOCUMENTED PROJECT ESTIMATE / claim from the project proposal. It is NOT independently verified experimental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The driver portal is the most complex UI in UrbanClean.</a:t>
            </a:r>
          </a:p>
          <a:p/>
          <a:p>
            <a:r>
              <a:t>Key flow:</a:t>
            </a:r>
          </a:p>
          <a:p>
            <a:r>
              <a:t>1. Driver opens driver.html -&gt; initDriverPage() called.</a:t>
            </a:r>
          </a:p>
          <a:p>
            <a:r>
              <a:t>2. Complaints within 1km of driver's location are fetched as 'eligible complaints'.</a:t>
            </a:r>
          </a:p>
          <a:p>
            <a:r>
              <a:t>3. Driver clicks 'Generate Route' -&gt; TSP orders complaints -&gt; OSRM API called -&gt; route drawn on map.</a:t>
            </a:r>
          </a:p>
          <a:p>
            <a:r>
              <a:t>4. Driver clicks 'Lock Route' -&gt; POST /api/driver/route/lock -&gt; complaints tagged 'assigned_today'.</a:t>
            </a:r>
          </a:p>
          <a:p>
            <a:r>
              <a:t>5. Complaints outside 1km or overflow -&gt; tagged 'scheduled_tomorrow'.</a:t>
            </a:r>
          </a:p>
          <a:p>
            <a:r>
              <a:t>6. Tomorrow's queue visible via GET /api/driver/route/tomorrow.</a:t>
            </a:r>
          </a:p>
          <a:p/>
          <a:p>
            <a:r>
              <a:t>Implementation note: STATE.isRouteLocked prevents re-ordering after locking. Route data stored in db.json dailyRouteSnapshots[driverId][date].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Admin is the highest-privilege role.</a:t>
            </a:r>
          </a:p>
          <a:p/>
          <a:p>
            <a:r>
              <a:t>Admin API endpoints include:</a:t>
            </a:r>
          </a:p>
          <a:p>
            <a:r>
              <a:t>- GET /api/admin/complaints -- fetch all complaints</a:t>
            </a:r>
          </a:p>
          <a:p>
            <a:r>
              <a:t>- PATCH /api/admin/complaints/:id -- update status or assignment</a:t>
            </a:r>
          </a:p>
          <a:p>
            <a:r>
              <a:t>- GET /api/admin/users -- fetch all users</a:t>
            </a:r>
          </a:p>
          <a:p>
            <a:r>
              <a:t>- POST /api/admin/assign -- assign complaint to driver</a:t>
            </a:r>
          </a:p>
          <a:p/>
          <a:p>
            <a:r>
              <a:t>The admin dashboard uses the same Leaflet map as other portals but with additional controls.</a:t>
            </a:r>
          </a:p>
          <a:p>
            <a:r>
              <a:t>Admin can see complaints in ALL statuses, not just pending.</a:t>
            </a:r>
          </a:p>
          <a:p>
            <a:r>
              <a:t>If asked about security: Admin routes protected by role-check middleware on backend. Frontend checks role from session before rendering admin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CRITICAL: Always clarify current vs proposed when discussing database.</a:t>
            </a:r>
          </a:p>
          <a:p/>
          <a:p>
            <a:r>
              <a:t>CURRENT: db.json is the ACTIVE runtime store. Node.js reads/writes JSON directly.</a:t>
            </a:r>
          </a:p>
          <a:p>
            <a:r>
              <a:t>SQLite (urban_clean.db): Mirror only. Synced automatically via sync_sqlite.py on every db.json write.</a:t>
            </a:r>
          </a:p>
          <a:p>
            <a:r>
              <a:t>Why JSON? Simple, no setup, great for prototyping. Works well for hundreds of records.</a:t>
            </a:r>
          </a:p>
          <a:p/>
          <a:p>
            <a:r>
              <a:t>PROPOSED (PostgreSQL + PostGIS):</a:t>
            </a:r>
          </a:p>
          <a:p>
            <a:r>
              <a:t>- PostGIS adds spatial data types like GEOGRAPHY(Point, 4326) -- stores lat/lng natively.</a:t>
            </a:r>
          </a:p>
          <a:p>
            <a:r>
              <a:t>- ST_DWithin: Spatial function for 'within X meters' queries -- replaces JS radius filtering.</a:t>
            </a:r>
          </a:p>
          <a:p>
            <a:r>
              <a:t>- Scalable to millions of records with GiST spatial indexes.</a:t>
            </a:r>
          </a:p>
          <a:p>
            <a:r>
              <a:t>- reference/main.py already implements SQLAlchemy ORM for PostgreSQL -- ready to migrate.</a:t>
            </a:r>
          </a:p>
          <a:p/>
          <a:p>
            <a:r>
              <a:t>If asked: 'Why not use PostgreSQL now?' -- Answer: SQLite is sufficient for the project scale. JSON store gives flexibility without schema constraints during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Be ready to sketch or describe any of these diagrams verbally.</a:t>
            </a:r>
          </a:p>
          <a:p/>
          <a:p>
            <a:r>
              <a:t>Use Case: 4 actors. Guest can only view map. Citizen can report and track. Driver can view, generate route, lock, and resolve. Admin has full access.</a:t>
            </a:r>
          </a:p>
          <a:p/>
          <a:p>
            <a:r>
              <a:t>Class Diagram: User base class with role. Complaint has fields: id, lat, lng, category, status, photo, citizenId, driverId, timestamps. Route has: driverId, date, waypoints, isLocked, totalDistance.</a:t>
            </a:r>
          </a:p>
          <a:p/>
          <a:p>
            <a:r>
              <a:t>Sequence: Citizen submits -&gt; POST /api/complaints -&gt; server writes db.json -&gt; triggers sync_sqlite.py -&gt; response sent back -&gt; map updated.</a:t>
            </a:r>
          </a:p>
          <a:p/>
          <a:p>
            <a:r>
              <a:t>Activity: Driver opens portal -&gt; fetches eligible complaints -&gt; clicks Generate -&gt; TSP runs -&gt; OSRM called -&gt; polyline drawn -&gt; Driver locks -&gt; snapshot saved.</a:t>
            </a:r>
          </a:p>
          <a:p/>
          <a:p>
            <a:r>
              <a:t>Component: Frontend is a Single Page Application. Backend is a monolithic Express server.</a:t>
            </a:r>
          </a:p>
          <a:p/>
          <a:p>
            <a:r>
              <a:t>Deployment: All runs locally (localhost). In production, would deploy to cloud (AWS/GCP) with Nginx reverse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NFRs show that the system was designed with quality attributes in mind.</a:t>
            </a:r>
          </a:p>
          <a:p/>
          <a:p>
            <a:r>
              <a:t>Security: bcryptjs is a Node.js library for password hashing. Cost factor 10 means 2^10 = 1024 iterations.</a:t>
            </a:r>
          </a:p>
          <a:p>
            <a:r>
              <a:t>Role-based access: Every backend route checks the caller's role from the session.</a:t>
            </a:r>
          </a:p>
          <a:p>
            <a:r>
              <a:t>Multer MIME check: Prevents uploading non-image files as complaint evidence.</a:t>
            </a:r>
          </a:p>
          <a:p/>
          <a:p>
            <a:r>
              <a:t>Performance NFR: &lt; 500ms target for Express routes. Local SQLite queries are near-instant.</a:t>
            </a:r>
          </a:p>
          <a:p>
            <a:r>
              <a:t>Scalability: The architectural design anticipates PostgreSQL + PostGIS for production scale.</a:t>
            </a:r>
          </a:p>
          <a:p>
            <a:r>
              <a:t>Reliability: Dual store (JSON + SQLite) provides redundancy. If JSON write fails mid-flight, SQLite still has previous good state.</a:t>
            </a:r>
          </a:p>
          <a:p>
            <a:r>
              <a:t>Test Cases: TC-01 to TC-20 defined in the project report covering all major user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Point to specific elements in each screenshot.</a:t>
            </a:r>
          </a:p>
          <a:p/>
          <a:p>
            <a:r>
              <a:t>Guest Dashboard: Shows live complaint markers on Leaflet map. No login required. Public transparency feature.</a:t>
            </a:r>
          </a:p>
          <a:p>
            <a:r>
              <a:t>Login Portal: Role-selection interface. Separate login paths for Citizen/Driver/Admin.</a:t>
            </a:r>
          </a:p>
          <a:p>
            <a:r>
              <a:t>Citizen Reporting: Form with geo-location capture, category dropdown, photo upload. Complaint submitted via POST /api/complaints.</a:t>
            </a:r>
          </a:p>
          <a:p>
            <a:r>
              <a:t>Driver Route Portal: Interactive map with complaint markers. 'Generate Route' button runs TSP + OSRM. 'Lock Route' commits the day's plan.</a:t>
            </a:r>
          </a:p>
          <a:p>
            <a:r>
              <a:t>Admin Dashboard: Full control panel. Complaint list with status badges. Driver assignment controls.</a:t>
            </a:r>
          </a:p>
          <a:p>
            <a:r>
              <a:t>SQLite DB Browser: Shows urban_clean.db accounts table -- confirms data is synced from db.json.</a:t>
            </a:r>
          </a:p>
          <a:p/>
          <a:p>
            <a:r>
              <a:t>UI Design: Glassmorphism style (frosted glass panels, blur effects, gradient borders). Responsive design using CSS Grid + Flexbox.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POINT: Results prove the system works; Future Scope shows architectural thinking.</a:t>
            </a:r>
          </a:p>
          <a:p/>
          <a:p>
            <a:r>
              <a:t>IMPORTANT -- Fuel savings (22-32%): This is a documented estimate from our project proposal. It is NOT independently verified experimental data. If asked, say: 'Our project proposal documents an estimated 22-32% fuel reduction from route optimization. This is based on documented estimates and would require field testing to verify.'</a:t>
            </a:r>
          </a:p>
          <a:p/>
          <a:p>
            <a:r>
              <a:t>Key results to highlight:</a:t>
            </a:r>
          </a:p>
          <a:p>
            <a:r>
              <a:t>- Working prototype with all 5 portals functional</a:t>
            </a:r>
          </a:p>
          <a:p>
            <a:r>
              <a:t>- Dual-algorithm route optimization (TSP + OSRM)</a:t>
            </a:r>
          </a:p>
          <a:p>
            <a:r>
              <a:t>- Auto-sync SQLite on every db.json write</a:t>
            </a:r>
          </a:p>
          <a:p>
            <a:r>
              <a:t>- Daily route locking system</a:t>
            </a:r>
          </a:p>
          <a:p/>
          <a:p>
            <a:r>
              <a:t>Future scope: PostgreSQL + PostGIS migration is the highest priority -- already have ORM models in main.py. Mobile app would allow GPS tracking of driver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CLOSING STATEMENT:</a:t>
            </a:r>
          </a:p>
          <a:p>
            <a:r>
              <a:t>'UrbanClean demonstrates how geospatial web technology can transform urban waste management. By combining real-time citizen reporting, TSP route optimization, OSRM road routing, and a multi-role administrative system, we have created a functional prototype that addresses key challenges in smart city waste collection. The system is designed for scalability, with a clear migration path to PostgreSQL and PostGIS for production deployment. I am happy to answer any questions.'</a:t>
            </a:r>
          </a:p>
          <a:p/>
          <a:p>
            <a:r>
              <a:t>COMMON VIVA QUESTIONS:</a:t>
            </a:r>
          </a:p>
          <a:p>
            <a:r>
              <a:t>Q: What is the difference between TSP and OSRM?</a:t>
            </a:r>
          </a:p>
          <a:p>
            <a:r>
              <a:t>A: TSP (Nearest-Neighbor Heuristic) determines the ORDER of visiting complaint locations. OSRM (Open Source Routing Machine) provides the ACTUAL ROAD PATH between those ordered locations.</a:t>
            </a:r>
          </a:p>
          <a:p/>
          <a:p>
            <a:r>
              <a:t>Q: What is your current database?</a:t>
            </a:r>
          </a:p>
          <a:p>
            <a:r>
              <a:t>A: Currently JSON db.json + SQLite auto-sync. PostgreSQL + PostGIS is the proposed upgrade.</a:t>
            </a:r>
          </a:p>
          <a:p/>
          <a:p>
            <a:r>
              <a:t>Q: How does complaint geo-tagging work?</a:t>
            </a:r>
          </a:p>
          <a:p>
            <a:r>
              <a:t>A: Browser's navigator.geolocation API captures lat/lng. Stored in the complaint record.</a:t>
            </a:r>
          </a:p>
          <a:p/>
          <a:p>
            <a:r>
              <a:t>Q: How is the route locked?</a:t>
            </a:r>
          </a:p>
          <a:p>
            <a:r>
              <a:t>A: POST /api/driver/route/lock saves snapshot to dailyRouteSnapshots[driverId][date] in db.json. Complaints tagged 'assigned_today' or 'scheduled_tomorrow'.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09728" cy="65836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1247120" cy="210312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3840480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  BSc Computer Science Mini Project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8FF"/>
                </a:solidFill>
                <a:latin typeface="Calibri"/>
              </a:rPr>
              <a:t>UrbanClean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Geospatial Smart City Waste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&amp; Route Optimization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45720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Student: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Ayush Santosh Toraskar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Roll No.: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9300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CS-9147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684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Class: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968496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TY BSc Computer Science / Division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439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College: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43984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D. G. Ruparel College of Arts, Science &amp; 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Calibri"/>
              </a:rPr>
              <a:t>Academic Year: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919472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2026 - 2027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194560"/>
            <a:ext cx="2468880" cy="438912"/>
          </a:xfrm>
          <a:prstGeom prst="rect">
            <a:avLst/>
          </a:prstGeom>
          <a:solidFill>
            <a:srgbClr val="112D4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1945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  <a:latin typeface="Calibri"/>
              </a:rPr>
              <a:t>Node.js / Express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743200"/>
            <a:ext cx="2468880" cy="438912"/>
          </a:xfrm>
          <a:prstGeom prst="rect">
            <a:avLst/>
          </a:prstGeom>
          <a:solidFill>
            <a:srgbClr val="112D4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74320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  <a:latin typeface="Calibri"/>
              </a:rPr>
              <a:t>Leaflet.js / OSM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291839"/>
            <a:ext cx="2468880" cy="438912"/>
          </a:xfrm>
          <a:prstGeom prst="rect">
            <a:avLst/>
          </a:prstGeom>
          <a:solidFill>
            <a:srgbClr val="112D4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291839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  <a:latin typeface="Calibri"/>
              </a:rPr>
              <a:t>OSRM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840479"/>
            <a:ext cx="2468880" cy="438912"/>
          </a:xfrm>
          <a:prstGeom prst="rect">
            <a:avLst/>
          </a:prstGeom>
          <a:solidFill>
            <a:srgbClr val="112D4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840479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  <a:latin typeface="Calibri"/>
              </a:rPr>
              <a:t>TSP Optimization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4389120"/>
            <a:ext cx="2468880" cy="438912"/>
          </a:xfrm>
          <a:prstGeom prst="rect">
            <a:avLst/>
          </a:prstGeom>
          <a:solidFill>
            <a:srgbClr val="112D4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3891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  <a:latin typeface="Calibri"/>
              </a:rPr>
              <a:t>SQLite -&gt;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What is UrbanClean?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UrbanClean is a full-stack web-based geospatial waste management platform that connects citizens, garbage collection drivers, and municipal administrators in a single unified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Citizens:</a:t>
            </a:r>
            <a:r>
              <a:rPr sz="1600">
                <a:solidFill>
                  <a:srgbClr val="CCE5FF"/>
                </a:solidFill>
                <a:latin typeface="Calibri"/>
              </a:rPr>
              <a:t> Report waste complaints with geo-tagged photos and live location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Drivers:</a:t>
            </a:r>
            <a:r>
              <a:rPr sz="1600">
                <a:solidFill>
                  <a:srgbClr val="CCE5FF"/>
                </a:solidFill>
                <a:latin typeface="Calibri"/>
              </a:rPr>
              <a:t> Get AI-optimized daily collection routes using TSP + OSRM road routing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Admins:</a:t>
            </a:r>
            <a:r>
              <a:rPr sz="1600">
                <a:solidFill>
                  <a:srgbClr val="CCE5FF"/>
                </a:solidFill>
                <a:latin typeface="Calibri"/>
              </a:rPr>
              <a:t> Monitor complaints, manage drivers, and oversee city-wide operations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Public Guest:</a:t>
            </a:r>
            <a:r>
              <a:rPr sz="1600">
                <a:solidFill>
                  <a:srgbClr val="CCE5FF"/>
                </a:solidFill>
                <a:latin typeface="Calibri"/>
              </a:rPr>
              <a:t> View real-time waste complaint map without login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Route Locking:</a:t>
            </a:r>
            <a:r>
              <a:rPr sz="1600">
                <a:solidFill>
                  <a:srgbClr val="CCE5FF"/>
                </a:solidFill>
                <a:latin typeface="Calibri"/>
              </a:rPr>
              <a:t> Daily route snapshot locks at driver's choice; tomorrow's queue auto-populated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Tech Stack:</a:t>
            </a:r>
            <a:r>
              <a:rPr sz="1600">
                <a:solidFill>
                  <a:srgbClr val="CCE5FF"/>
                </a:solidFill>
                <a:latin typeface="Calibri"/>
              </a:rPr>
              <a:t> Node.js/Express backend | Leaflet.js + OpenStreetMap | SQLite (current) | PostgreSQL/PostGIS (proposed)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6035040"/>
            <a:ext cx="2926080" cy="4572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6035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A2E"/>
                </a:solidFill>
                <a:latin typeface="Calibri"/>
              </a:rPr>
              <a:t>Smart City Initiative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Urban Waste Management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No Real-Time Reporting:</a:t>
            </a:r>
            <a:r>
              <a:rPr sz="1600">
                <a:solidFill>
                  <a:srgbClr val="CCE5FF"/>
                </a:solidFill>
                <a:latin typeface="Calibri"/>
              </a:rPr>
              <a:t> Citizens have no digital channel to report overflowing bins or missed pickups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Inefficient Routes:</a:t>
            </a:r>
            <a:r>
              <a:rPr sz="1600">
                <a:solidFill>
                  <a:srgbClr val="CCE5FF"/>
                </a:solidFill>
                <a:latin typeface="Calibri"/>
              </a:rPr>
              <a:t> Drivers follow fixed schedules regardless of actual complaint density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No Accountability:</a:t>
            </a:r>
            <a:r>
              <a:rPr sz="1600">
                <a:solidFill>
                  <a:srgbClr val="CCE5FF"/>
                </a:solidFill>
                <a:latin typeface="Calibri"/>
              </a:rPr>
              <a:t> Complaints are untracked -- no status updates, no SLA enforcement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Data Silos:</a:t>
            </a:r>
            <a:r>
              <a:rPr sz="1600">
                <a:solidFill>
                  <a:srgbClr val="CCE5FF"/>
                </a:solidFill>
                <a:latin typeface="Calibri"/>
              </a:rPr>
              <a:t> Complaint data, driver data, and route data are isolated with no unified view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Wasted Resources:</a:t>
            </a:r>
            <a:r>
              <a:rPr sz="1600">
                <a:solidFill>
                  <a:srgbClr val="CCE5FF"/>
                </a:solidFill>
                <a:latin typeface="Calibri"/>
              </a:rPr>
              <a:t> Fuel and manpower wasted on areas with no complaints; high-priority zones missed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0C8FF"/>
                </a:solidFill>
                <a:latin typeface="Calibri"/>
              </a:rPr>
              <a:t>► </a:t>
            </a:r>
            <a:r>
              <a:rPr b="1" sz="1600">
                <a:solidFill>
                  <a:srgbClr val="FFFFFF"/>
                </a:solidFill>
                <a:latin typeface="Calibri"/>
              </a:rPr>
              <a:t>Lack of Transparency:</a:t>
            </a:r>
            <a:r>
              <a:rPr sz="1600">
                <a:solidFill>
                  <a:srgbClr val="CCE5FF"/>
                </a:solidFill>
                <a:latin typeface="Calibri"/>
              </a:rPr>
              <a:t> Public cannot view current waste situation or complaint resolution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532120"/>
            <a:ext cx="11155680" cy="91440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AAAA"/>
                </a:solidFill>
                <a:latin typeface="Calibri"/>
              </a:rPr>
              <a:t>Impact: Inefficient waste collection leads to public health hazards, environmental degradation, and increased municipal operational costs in urban areas.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Existing System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Comparative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200400" cy="411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234440"/>
            <a:ext cx="3840480" cy="411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234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234440"/>
            <a:ext cx="438912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234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Proposed UrbanClean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320040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645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Complaint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384048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6459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Manual / Phone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645920"/>
            <a:ext cx="438912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16459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Digital geo-tagged + photo upload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320040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1031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Route Planning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103120"/>
            <a:ext cx="384048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1031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Fixed schedules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103120"/>
            <a:ext cx="438912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21031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TSP-optimized dynamic 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60320"/>
            <a:ext cx="320040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5603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Road Routing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560320"/>
            <a:ext cx="384048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25603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560320"/>
            <a:ext cx="438912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25603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OSRM road network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17520"/>
            <a:ext cx="320040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0175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017520"/>
            <a:ext cx="384048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30175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No complaint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017520"/>
            <a:ext cx="438912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30175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Live status: Pending-&gt;In Progress-&gt;Resolved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474720"/>
            <a:ext cx="320040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4747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Public Visibility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3474720"/>
            <a:ext cx="384048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9312" y="34747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None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3474720"/>
            <a:ext cx="438912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9792" y="34747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Real-time public complaint map (Guest)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31920"/>
            <a:ext cx="320040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39319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Data 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3931920"/>
            <a:ext cx="384048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9312" y="39319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Paper / Excel sheets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3931920"/>
            <a:ext cx="438912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39319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JSON db.json + SQLite (current)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389120"/>
            <a:ext cx="320040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3891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Scalability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4389120"/>
            <a:ext cx="384048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9312" y="43891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Not scalable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389120"/>
            <a:ext cx="4389120" cy="438912"/>
          </a:xfrm>
          <a:prstGeom prst="rect">
            <a:avLst/>
          </a:prstGeom>
          <a:solidFill>
            <a:srgbClr val="0D223A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9792" y="43891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PostgreSQL + PostGIS (proposed)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846320"/>
            <a:ext cx="320040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84632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Driver Management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4846320"/>
            <a:ext cx="384048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39312" y="48463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Manual assignment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4846320"/>
            <a:ext cx="4389120" cy="438912"/>
          </a:xfrm>
          <a:prstGeom prst="rect">
            <a:avLst/>
          </a:prstGeom>
          <a:solidFill>
            <a:srgbClr val="0A1A2E"/>
          </a:solidFill>
          <a:ln w="635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79792" y="48463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9D353"/>
                </a:solidFill>
                <a:latin typeface="Calibri"/>
              </a:rPr>
              <a:t>Admin assigns; driver locks daily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What UrbanClean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Geo-Tagged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Enable citizens to report waste with GPS location, category, and photographic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Route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Minimize driver travel distance using Nearest-Neighbor TSP heuristic over active complaints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Road Network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Use OSRM API for real road-based routes between waypoints (not straight-line)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Multi-Role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346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Separate portals for Guest, Citizen, Driver, and Admin with JWT-style session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57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Complaint Lifecycle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23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Track complaints from Pending -&gt; Assigned -&gt; In Progress -&gt; Resolved with timestamps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1188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657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Daily Route Locking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233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Driver locks route snapshot daily; tomorrow's auto-populated from overflow queue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0060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Administrative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21208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Admin can manage users, view KPI metrics, and oversee all city complaints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00600"/>
            <a:ext cx="5760720" cy="1097280"/>
          </a:xfrm>
          <a:prstGeom prst="rect">
            <a:avLst/>
          </a:prstGeom>
          <a:solidFill>
            <a:srgbClr val="112D4E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846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O8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846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Scalable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1208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Design system to migrate to PostgreSQL + PostGIS for production-scale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Users &amp; System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4-Role 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5303520"/>
          </a:xfrm>
          <a:prstGeom prst="rect">
            <a:avLst/>
          </a:prstGeom>
          <a:solidFill>
            <a:srgbClr val="112D4E"/>
          </a:solidFill>
          <a:ln w="19050">
            <a:solidFill>
              <a:srgbClr val="9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834640" cy="502920"/>
          </a:xfrm>
          <a:prstGeom prst="rect">
            <a:avLst/>
          </a:prstGeom>
          <a:solidFill>
            <a:srgbClr val="9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E"/>
                </a:solidFill>
                <a:latin typeface="Calibri"/>
              </a:rPr>
              <a:t>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0C8FF"/>
                </a:solidFill>
                <a:latin typeface="Calibri"/>
              </a:rPr>
              <a:t>Public / Visitor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View live complaint map (read-only)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See complaint markers on Leaflet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No login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Encourages transparency &amp; public trust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834640" cy="5303520"/>
          </a:xfrm>
          <a:prstGeom prst="rect">
            <a:avLst/>
          </a:prstGeom>
          <a:solidFill>
            <a:srgbClr val="112D4E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2834640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188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E"/>
                </a:solidFill>
                <a:latin typeface="Calibri"/>
              </a:rPr>
              <a:t>CITIZEN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9D353"/>
                </a:solidFill>
                <a:latin typeface="Calibri"/>
              </a:rPr>
              <a:t>Registered Resident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Submit geo-tagged waste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Upload photo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Track complaint status in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View own complaint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2834640" cy="5303520"/>
          </a:xfrm>
          <a:prstGeom prst="rect">
            <a:avLst/>
          </a:prstGeom>
          <a:solidFill>
            <a:srgbClr val="112D4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283464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188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E"/>
                </a:solidFill>
                <a:latin typeface="Calibri"/>
              </a:rPr>
              <a:t>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D700"/>
                </a:solidFill>
                <a:latin typeface="Calibri"/>
              </a:rPr>
              <a:t>Garbage Collector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View assigned complaints on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Generate TSP-optimized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Lock daily route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Mark complaints Resolved after collection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1188720"/>
            <a:ext cx="2834640" cy="5303520"/>
          </a:xfrm>
          <a:prstGeom prst="rect">
            <a:avLst/>
          </a:prstGeom>
          <a:solidFill>
            <a:srgbClr val="112D4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1188720"/>
            <a:ext cx="28346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1188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E"/>
                </a:solidFill>
                <a:latin typeface="Calibri"/>
              </a:rP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8C00"/>
                </a:solidFill>
                <a:latin typeface="Calibri"/>
              </a:rPr>
              <a:t>Municipal Administrator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Manage all users and 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Assign complaints to drivers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View system KPI and statistics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  &gt;&gt; Override complaint statuses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Major 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5 Core Modules of UrbanClean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430000" cy="960120"/>
          </a:xfrm>
          <a:prstGeom prst="rect">
            <a:avLst/>
          </a:prstGeom>
          <a:solidFill>
            <a:srgbClr val="112D4E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9436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Complaint Management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733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Accepts geo-tagged complaints (lat/lng/photo/category). Manages full lifecycle: Pending -&gt; Assigned -&gt; In Progress -&gt; Resolved. REST API: POST /api/complaints, GET, PATCH.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67711"/>
            <a:ext cx="11430000" cy="960120"/>
          </a:xfrm>
          <a:prstGeom prst="rect">
            <a:avLst/>
          </a:prstGeom>
          <a:solidFill>
            <a:srgbClr val="112D4E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67711"/>
            <a:ext cx="59436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67711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13431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Geospatial Mapping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06623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Leaflet.js + OpenStreetMap renders live complaint markers, driver position, and route polylines. Supports color-coded markers by status. Clustering for dense areas.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00982"/>
            <a:ext cx="11430000" cy="960120"/>
          </a:xfrm>
          <a:prstGeom prst="rect">
            <a:avLst/>
          </a:prstGeom>
          <a:solidFill>
            <a:srgbClr val="112D4E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300982"/>
            <a:ext cx="59436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300982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4670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Route Optimization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3989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TSP (Nearest-Neighbor Heuristic) orders complaint waypoints. OSRM API fetches road-geometry and actual road distance. Daily route lock saves snapshot to dailyRouteSnapshots in db.json.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34253"/>
            <a:ext cx="11430000" cy="960120"/>
          </a:xfrm>
          <a:prstGeom prst="rect">
            <a:avLst/>
          </a:prstGeom>
          <a:solidFill>
            <a:srgbClr val="112D4E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34253"/>
            <a:ext cx="59436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334253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997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 &amp; Account Management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73165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Multi-role accounts (Guest/Citizen/Driver/Admin). Signup, login, session management. Passwords: bcrypt hashed. Stored in accounts{citizens[], drivers[], admins[]} in db.json.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67524"/>
            <a:ext cx="11430000" cy="960120"/>
          </a:xfrm>
          <a:prstGeom prst="rect">
            <a:avLst/>
          </a:prstGeom>
          <a:solidFill>
            <a:srgbClr val="112D4E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367524"/>
            <a:ext cx="59436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367524"/>
            <a:ext cx="594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132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Admin Dashboard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8064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System-wide complaint oversight, driver assignment, user management, KPI metrics. Admin can change complaint status, assign drivers, and view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Layered 3-Tier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6858000" cy="914400"/>
          </a:xfrm>
          <a:prstGeom prst="rect">
            <a:avLst/>
          </a:prstGeom>
          <a:solidFill>
            <a:srgbClr val="112D4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73152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HTML5 | CSS3 (Glassmorphism) | Vanilla JS | Leaflet.js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6858000" cy="914400"/>
          </a:xfrm>
          <a:prstGeom prst="rect">
            <a:avLst/>
          </a:prstGeom>
          <a:solidFill>
            <a:srgbClr val="112D4E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73152" cy="9144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alibri"/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Node.js v20 | Express.js | Multer (file uploads) | bcryptjs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46120"/>
            <a:ext cx="6858000" cy="914400"/>
          </a:xfrm>
          <a:prstGeom prst="rect">
            <a:avLst/>
          </a:prstGeom>
          <a:solidFill>
            <a:srgbClr val="112D4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246120"/>
            <a:ext cx="7315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3931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JSON db.json (runtime) | SQLite urban_clean.db (mirror) | sync_sqlite.py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6858000" cy="914400"/>
          </a:xfrm>
          <a:prstGeom prst="rect">
            <a:avLst/>
          </a:prstGeom>
          <a:solidFill>
            <a:srgbClr val="112D4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51960"/>
            <a:ext cx="73152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Calibri"/>
              </a:rPr>
              <a:t>EXTERNAL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OSRM Routing API | OpenStreetMap Tiles | Browser Geolocation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57800"/>
            <a:ext cx="6858000" cy="914400"/>
          </a:xfrm>
          <a:prstGeom prst="rect">
            <a:avLst/>
          </a:prstGeom>
          <a:solidFill>
            <a:srgbClr val="112D4E"/>
          </a:solidFill>
          <a:ln w="19050">
            <a:solidFill>
              <a:srgbClr val="9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257800"/>
            <a:ext cx="73152" cy="914400"/>
          </a:xfrm>
          <a:prstGeom prst="rect">
            <a:avLst/>
          </a:prstGeom>
          <a:solidFill>
            <a:srgbClr val="9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C8FF"/>
                </a:solidFill>
                <a:latin typeface="Calibri"/>
              </a:rPr>
              <a:t>PROPOSED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PostgreSQL v16 + PostGIS v3.3 (production target -- not yet implemented)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234440"/>
            <a:ext cx="4572000" cy="5029200"/>
          </a:xfrm>
          <a:prstGeom prst="rect">
            <a:avLst/>
          </a:prstGeom>
          <a:solidFill>
            <a:srgbClr val="06121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Calibri"/>
              </a:rPr>
              <a:t>Project File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664208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d:\Urban clean\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backend/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server.js        (Express API)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db.json          (JSON store)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urban_clean.db   (SQLite mirror)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sync_sqlite.py   (auto-sync)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uploads/         (complaint photos)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frontend/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script.js        (client logic)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styles.css       (glassmorphism)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index.html       (Guest view)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citizen.html     (Citizen portal)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driver.html      (Driver portal)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80FF80"/>
                </a:solidFill>
                <a:latin typeface="Courier New"/>
              </a:rPr>
              <a:t>    admin.html       (Admin dashboard)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Complaint Management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Full Lifecycle from Report to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240280" cy="4114800"/>
          </a:xfrm>
          <a:prstGeom prst="rect">
            <a:avLst/>
          </a:prstGeom>
          <a:solidFill>
            <a:srgbClr val="112D4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240280" cy="4754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344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2E"/>
                </a:solidFill>
                <a:latin typeface="Calibri"/>
              </a:rPr>
              <a:t>1. CITIZEN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Captures GPS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042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Selects waste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797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Uploads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5526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Submits via /api/complaints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175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34440"/>
            <a:ext cx="2240280" cy="4114800"/>
          </a:xfrm>
          <a:prstGeom prst="rect">
            <a:avLst/>
          </a:prstGeom>
          <a:solidFill>
            <a:srgbClr val="112D4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234440"/>
            <a:ext cx="2240280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2344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2E"/>
                </a:solidFill>
                <a:latin typeface="Calibri"/>
              </a:rPr>
              <a:t>2. PENDING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Complaint stored in db.json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042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Visible on public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7797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Status = 'pending'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25526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Timestamp recorded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0175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234440"/>
            <a:ext cx="2240280" cy="4114800"/>
          </a:xfrm>
          <a:prstGeom prst="rect">
            <a:avLst/>
          </a:prstGeom>
          <a:solidFill>
            <a:srgbClr val="112D4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1234440"/>
            <a:ext cx="2240280" cy="4754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2344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2E"/>
                </a:solidFill>
                <a:latin typeface="Calibri"/>
              </a:rPr>
              <a:t>3. ADMIN ASSIGNS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Admin views 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3042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Assigns to a 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7797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Status = 'assigned'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25526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Driver notified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0175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-&gt;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1234440"/>
            <a:ext cx="2240280" cy="4114800"/>
          </a:xfrm>
          <a:prstGeom prst="rect">
            <a:avLst/>
          </a:prstGeom>
          <a:solidFill>
            <a:srgbClr val="112D4E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1234440"/>
            <a:ext cx="2240280" cy="47548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12344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2E"/>
                </a:solidFill>
                <a:latin typeface="Calibri"/>
              </a:rPr>
              <a:t>4. DRIVER COLLECTS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Driver sees on route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3042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TSP + OSRM route generated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7797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Route locked for the 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25526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Status = 'in_progress'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0175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-&gt;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38360" y="1234440"/>
            <a:ext cx="2240280" cy="4114800"/>
          </a:xfrm>
          <a:prstGeom prst="rect">
            <a:avLst/>
          </a:prstGeom>
          <a:solidFill>
            <a:srgbClr val="112D4E"/>
          </a:solidFill>
          <a:ln w="19050">
            <a:solidFill>
              <a:srgbClr val="9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1234440"/>
            <a:ext cx="2240280" cy="475488"/>
          </a:xfrm>
          <a:prstGeom prst="rect">
            <a:avLst/>
          </a:prstGeom>
          <a:solidFill>
            <a:srgbClr val="9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123444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A2E"/>
                </a:solidFill>
                <a:latin typeface="Calibri"/>
              </a:rPr>
              <a:t>5. RESOLVED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182880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Driver marks collected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30428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Status = 'resolved'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27797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Timestamp + auto-sync to SQLite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25526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5FF"/>
                </a:solidFill>
                <a:latin typeface="Calibri"/>
              </a:rPr>
              <a:t>• Complaint archived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5468112"/>
            <a:ext cx="11658600" cy="1051560"/>
          </a:xfrm>
          <a:prstGeom prst="rect">
            <a:avLst/>
          </a:prstGeom>
          <a:solidFill>
            <a:srgbClr val="06121F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alibri"/>
              </a:rPr>
              <a:t>REST API Endpoints: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55321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FF"/>
                </a:solidFill>
                <a:latin typeface="Courier New"/>
              </a:rPr>
              <a:t>POST /api/complaints  |  GET /api/complaints  |  PATCH /api/complaints/:id  |  GET /api/complaints/:id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Geospatial &amp; Route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TSP Waypoint Ordering + OSRM Road Routing -- Two Distinct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94960" cy="4937760"/>
          </a:xfrm>
          <a:prstGeom prst="rect">
            <a:avLst/>
          </a:prstGeom>
          <a:solidFill>
            <a:srgbClr val="112D4E"/>
          </a:solidFill>
          <a:ln w="254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4572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TSP -- Traveling Salesman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Algorithm: Nearest-Neighbor Heuristic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854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Purpose: Determines ORDER of complaint waypoints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151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Starts from driver's current GPS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449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Greedily picks closest unvisited complaint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Implementation: Internal JavaScript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044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Input: Array of complaint {lat, lng} coordinates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342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Output: Ordered array of waypoints for that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640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Complexity: O(n^2) -- practical for city-scale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937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Documented project estimate: 22-32% fuel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234440"/>
            <a:ext cx="5943600" cy="4937760"/>
          </a:xfrm>
          <a:prstGeom prst="rect">
            <a:avLst/>
          </a:prstGeom>
          <a:solidFill>
            <a:srgbClr val="112D4E"/>
          </a:solidFill>
          <a:ln w="254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234440"/>
            <a:ext cx="5943600" cy="4572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234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OSRM -- Open Source Routing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75564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External API: router.project-osrm.org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85416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Purpose: Road-based geometry &amp;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1518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Input: Ordered waypoints from TSP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0449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Output: GeoJSON polyline on actual roads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74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Also returns: Total road distance (meters)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90448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Also returns: Estimated travel 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34256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Drawn on Leaflet map as blue route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76402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NOT the same as TSP -- uses real road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19379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E5FF"/>
                </a:solidFill>
                <a:latin typeface="Calibri"/>
              </a:rPr>
              <a:t>• No installation required -- public API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286000"/>
            <a:ext cx="18288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3566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Driver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Route Optimization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8847518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53949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261872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View all assigned complaints on interactive Leaflet map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Generate TSP-optimized daily route with one click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OSRM provides road-network path visualization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Lock today's route as a committed daily snapshot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Overflow complaints auto-queued for tomorrow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Mark complaints 'In Progress' or 'Resolved' on map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View tomorrow's queue (complaints scheduled next day)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Driver status card shows route distance + stop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291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C8FF"/>
                </a:solidFill>
                <a:latin typeface="Calibri"/>
              </a:rPr>
              <a:t>Screenshot: Driver Route Optimization Portal (driver.html)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Municipal 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8847518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6692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261872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View all complaints across the city with full details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Assign complaints to registered garbage drivers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Change complaint status (Pending/Assigned/Resolved)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Manage citizen and driver accounts (add/suspend)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KPI metrics: total complaints, resolution rate, active drivers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Complaint map overlay for geographic distribution view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Export and audit complaint logs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0C8FF"/>
                </a:solidFill>
                <a:latin typeface="Calibri"/>
              </a:rPr>
              <a:t>► </a:t>
            </a:r>
            <a:r>
              <a:rPr sz="1400">
                <a:solidFill>
                  <a:srgbClr val="CCE5FF"/>
                </a:solidFill>
                <a:latin typeface="Calibri"/>
              </a:rPr>
              <a:t>System health monitoring and driver activity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910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C8FF"/>
                </a:solidFill>
                <a:latin typeface="Calibri"/>
              </a:rPr>
              <a:t>Screenshot: Admin Command Center (admin.html)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Current: JSON + SQLite | Proposed: PostgreSQL + PostGIS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03520" cy="5212080"/>
          </a:xfrm>
          <a:prstGeom prst="rect">
            <a:avLst/>
          </a:prstGeom>
          <a:solidFill>
            <a:srgbClr val="112D4E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CURRENT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Primary Store: db.json (JSON document store)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Structure: db.json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complaints[]    -&gt; all complaint records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drivers[]       -&gt; driver profiles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accounts{}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  citizens[]    -&gt; citizen accounts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  drivers[]     -&gt; driver accounts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  admins[]      -&gt; admin accounts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driverRoutes{}  -&gt; historical route data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dailyRouteSnapshots{} -&gt; daily locked routes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Mirror: urban_clean.db (SQLite)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Auto-synced via sync_sqlite.py on every write</a:t>
            </a: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80FF80"/>
                </a:solidFill>
                <a:latin typeface="Courier New"/>
              </a:rPr>
              <a:t>  Tables: accounts, complaints,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34440"/>
            <a:ext cx="6035040" cy="5212080"/>
          </a:xfrm>
          <a:prstGeom prst="rect">
            <a:avLst/>
          </a:prstGeom>
          <a:solidFill>
            <a:srgbClr val="112D4E"/>
          </a:solidFill>
          <a:ln w="19050">
            <a:solidFill>
              <a:srgbClr val="9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234440"/>
            <a:ext cx="6035040" cy="411480"/>
          </a:xfrm>
          <a:prstGeom prst="rect">
            <a:avLst/>
          </a:prstGeom>
          <a:solidFill>
            <a:srgbClr val="9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2344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PROPOSED: PostgreSQL v16 + PostGIS v3.3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Full ACID-compliant relational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8483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PostGIS: Spatial data type GEOGRAPHY(Point)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3230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Spatial indexing: GIST index on geom column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7977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Geospatial queries: ST_DWithin, ST_Distance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2724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Tables: complaints, users, drivers,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47472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Complaint location stored as PostGIS geometry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82219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ST_DWithin for 1km radius filtering (no JS)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6966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ORM: SQLAlchemy (reference main.py ready)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51713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Scalable: millions of complaints with indexes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86460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FastAPI + psycopg2 for async DB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21208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55955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DFF"/>
                </a:solidFill>
                <a:latin typeface="Calibri"/>
              </a:rPr>
              <a:t>NOTE: PostgreSQL is PROPOSED future upgrade.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90702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Current implementation uses JSON + SQLite.</a:t>
            </a:r>
          </a:p>
        </p:txBody>
      </p:sp>
      <p:pic>
        <p:nvPicPr>
          <p:cNvPr id="26" name="Picture 25" descr="media_17890573485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5943600"/>
            <a:ext cx="3200400" cy="7498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C8FF"/>
                </a:solidFill>
                <a:latin typeface="Calibri"/>
              </a:rPr>
              <a:t>DB Browser: accounts table (urban_clean.db)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UML &amp;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Key Diagrams from the Design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94760" cy="2423160"/>
          </a:xfrm>
          <a:prstGeom prst="rect">
            <a:avLst/>
          </a:prstGeom>
          <a:solidFill>
            <a:srgbClr val="112D4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94760" cy="43891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Use Case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3611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4 actors (Guest, Citizen, Driver, Admin) with use cases:
Report Complaint, Track Status, Optimize Route, Manage Users, View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794760" cy="2423160"/>
          </a:xfrm>
          <a:prstGeom prst="rect">
            <a:avLst/>
          </a:prstGeom>
          <a:solidFill>
            <a:srgbClr val="112D4E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94760" cy="43891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23444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Class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09928"/>
            <a:ext cx="3611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Key classes: User (base), CitizenUser, DriverUser, AdminUser, Complaint, Route, MapMarker, RouteOptimizer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234440"/>
            <a:ext cx="3794760" cy="2423160"/>
          </a:xfrm>
          <a:prstGeom prst="rect">
            <a:avLst/>
          </a:prstGeom>
          <a:solidFill>
            <a:srgbClr val="112D4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234440"/>
            <a:ext cx="379476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8" y="123444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Sequence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1709928"/>
            <a:ext cx="3611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Complaint submission flow: Citizen -&gt; Frontend -&gt; Express API -&gt; db.json -&gt; SQLite sync -&gt; Admin notification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94760"/>
            <a:ext cx="3794760" cy="2423160"/>
          </a:xfrm>
          <a:prstGeom prst="rect">
            <a:avLst/>
          </a:prstGeom>
          <a:solidFill>
            <a:srgbClr val="112D4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3794760" cy="4389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9476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Activity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70248"/>
            <a:ext cx="3611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Route optimization flow: Load complaints -&gt; TSP ordering -&gt; OSRM API call -&gt; Draw polyline -&gt; Lock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794760"/>
            <a:ext cx="3794760" cy="2423160"/>
          </a:xfrm>
          <a:prstGeom prst="rect">
            <a:avLst/>
          </a:prstGeom>
          <a:solidFill>
            <a:srgbClr val="112D4E"/>
          </a:solidFill>
          <a:ln w="19050">
            <a:solidFill>
              <a:srgbClr val="9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794760"/>
            <a:ext cx="3794760" cy="438912"/>
          </a:xfrm>
          <a:prstGeom prst="rect">
            <a:avLst/>
          </a:prstGeom>
          <a:solidFill>
            <a:srgbClr val="9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79476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Component Diagram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4270248"/>
            <a:ext cx="3611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Components: Frontend SPA, Express REST Server, JSON Store, SQLite Mirror, OSRM External, Leaflet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3794760"/>
            <a:ext cx="3794760" cy="2423160"/>
          </a:xfrm>
          <a:prstGeom prst="rect">
            <a:avLst/>
          </a:prstGeom>
          <a:solidFill>
            <a:srgbClr val="112D4E"/>
          </a:solidFill>
          <a:ln w="19050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8" y="3794760"/>
            <a:ext cx="3794760" cy="438912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8" y="379476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2E"/>
                </a:solidFill>
                <a:latin typeface="Calibri"/>
              </a:rPr>
              <a:t>Deployment Diagram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4270248"/>
            <a:ext cx="3611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Browser (Client) &lt;-&gt; Node.js Server (localhost:3000) &lt;-&gt; db.json / SQLite &lt;-&gt; OSRM API (internet)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Security &amp;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NFR Suite from SRS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94960" cy="4937760"/>
          </a:xfrm>
          <a:prstGeom prst="rect">
            <a:avLst/>
          </a:prstGeom>
          <a:solidFill>
            <a:srgbClr val="112D4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Security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NFR-01: Passwords hashed with bcryptjs (cost factor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NFR-02: Role-based access control -- endpoint-level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0662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NFR-03: Input validation on all form submissions (client + server)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NFR-04: File upload restricted to images (Multer MIME check)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9417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NFR-05: HTTPS enforced in production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8795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NFR-06: SQL injection prevention via parameterized queries (SQLite)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8172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NFR-07: Session tokens invalidated on logout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7550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NFR-08: Complaint data accessible only to authorized 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234440"/>
            <a:ext cx="5943600" cy="4937760"/>
          </a:xfrm>
          <a:prstGeom prst="rect">
            <a:avLst/>
          </a:prstGeom>
          <a:solidFill>
            <a:srgbClr val="112D4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234440"/>
            <a:ext cx="594360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234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719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Performance: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7190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API response &lt; 500ms for standard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Scalability: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148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Designed for PostgreSQL/PostGIS migration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578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Usability: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5786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Mobile-responsive glassmorphism UI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0083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Reliability: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0083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JSON + SQLite dual-store prevents data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4381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Availability: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43814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Local server; cloud deployment for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8679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Maintainability: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8679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Modular code: separate frontend/backend 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297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Portability: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297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Node.js -- runs on Windows/Linux/macOS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Compliance: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7274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No PII beyond account data; GDPR-aware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1572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Testability: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15721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REST API testable via Postman/curl; TC-01 to TC-20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5869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Localization: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58698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Geolocation uses WGS84 coordinate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Implementation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Calibri"/>
              </a:rPr>
              <a:t>Actual System UI -- All 5 Portals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88475182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36576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3721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0C8FF"/>
                </a:solidFill>
                <a:latin typeface="Calibri"/>
              </a:rPr>
              <a:t>Guest Dashboard
(index.html)</a:t>
            </a:r>
          </a:p>
        </p:txBody>
      </p:sp>
      <p:pic>
        <p:nvPicPr>
          <p:cNvPr id="8" name="Picture 7" descr="media_1788847518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34440"/>
            <a:ext cx="365760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721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0C8FF"/>
                </a:solidFill>
                <a:latin typeface="Calibri"/>
              </a:rPr>
              <a:t>Login Portal
(login.html)</a:t>
            </a:r>
          </a:p>
        </p:txBody>
      </p:sp>
      <p:pic>
        <p:nvPicPr>
          <p:cNvPr id="10" name="Picture 9" descr="media_17888475182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34440"/>
            <a:ext cx="365760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3721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0C8FF"/>
                </a:solidFill>
                <a:latin typeface="Calibri"/>
              </a:rPr>
              <a:t>Citizen Reporting
(citizen.html)</a:t>
            </a:r>
          </a:p>
        </p:txBody>
      </p:sp>
      <p:pic>
        <p:nvPicPr>
          <p:cNvPr id="12" name="Picture 11" descr="media_17888475182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069080"/>
            <a:ext cx="3657600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8600" y="65562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0C8FF"/>
                </a:solidFill>
                <a:latin typeface="Calibri"/>
              </a:rPr>
              <a:t>Driver Route Portal
(driver.html)</a:t>
            </a:r>
          </a:p>
        </p:txBody>
      </p:sp>
      <p:pic>
        <p:nvPicPr>
          <p:cNvPr id="14" name="Picture 13" descr="media_17888475182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069080"/>
            <a:ext cx="3657600" cy="2468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0" y="65562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0C8FF"/>
                </a:solidFill>
                <a:latin typeface="Calibri"/>
              </a:rPr>
              <a:t>Admin Dashboard
(admin.html)</a:t>
            </a:r>
          </a:p>
        </p:txBody>
      </p:sp>
      <p:pic>
        <p:nvPicPr>
          <p:cNvPr id="16" name="Picture 15" descr="media_17890573485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9080"/>
            <a:ext cx="3657600" cy="2468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01000" y="65562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0C8FF"/>
                </a:solidFill>
                <a:latin typeface="Calibri"/>
              </a:rPr>
              <a:t>SQLite DB Browser
(urban_clean.db)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Results, Advantages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486400" cy="4937760"/>
          </a:xfrm>
          <a:prstGeom prst="rect">
            <a:avLst/>
          </a:prstGeom>
          <a:solidFill>
            <a:srgbClr val="112D4E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486400" cy="4114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Results &amp;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Full-stack working prototype with 4 user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Geo-tagged complaint submission with photo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8775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TSP + OSRM dual-engine route optimization 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Daily route lock system with tomorrow auto-queue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6557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Dual data store: JSON runtime + SQLite auto-sync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0448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Mobile-responsive glassmorphism UI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All 5 HTML portals operational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82312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REST API with 15+ documented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21224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• Documented project estimate: 22-32% fuel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60136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DAA"/>
                </a:solidFill>
                <a:latin typeface="Calibri"/>
              </a:rPr>
              <a:t>  (Estimate from project proposal -- not independently verified)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234440"/>
            <a:ext cx="5852160" cy="4937760"/>
          </a:xfrm>
          <a:prstGeom prst="rect">
            <a:avLst/>
          </a:prstGeom>
          <a:solidFill>
            <a:srgbClr val="112D4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234440"/>
            <a:ext cx="5852160" cy="411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2344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2E"/>
                </a:solidFill>
                <a:latin typeface="Calibri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7099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DB Upgrade: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170992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Migrate to PostgreSQL v16 + PostGIS v3.3 for spatial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18541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Mobile App: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185416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React Native app for citizen reporting + driver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6090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AI Priority: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66090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Machine learning model to predict complaint hotspots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13639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IoT Sensors: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13639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Smart bin sensors for proactive overflow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6118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Push Alerts: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61188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FCM push notifications for complaint status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0873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Analytics: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08736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Power BI / Tableau dashboard for city-level waste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628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Multi-City: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562856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Multi-tenant architecture for multiple municipalities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0383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Offline Mode: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03834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PWA with offline complaint drafting capability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5138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API Gateway: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51383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5FF"/>
                </a:solidFill>
                <a:latin typeface="Calibri"/>
              </a:rPr>
              <a:t>Rate limiting, caching, microservices decomposition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09728" cy="65836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8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777240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UrbanClean successfully demonstrates a full-stack geospatial smart city solution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Integrates citizen reporting, driver route optimization, and admin oversight in one platform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TSP (Nearest-Neighbor) + OSRM (road routing) provide a dual-engine optimization pipeline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Daily route locking with tomorrow's auto-queue improves operational planning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Glassmorphism UI delivers a modern, mobile-responsive user experience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Dual data store (JSON + SQLite auto-sync) provides reliability and flexibility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System is architected to scale to PostgreSQL + PostGIS for production deployment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00C8FF"/>
                </a:solidFill>
                <a:latin typeface="Calibri"/>
              </a:rPr>
              <a:t>► </a:t>
            </a:r>
            <a:r>
              <a:rPr sz="1500">
                <a:solidFill>
                  <a:srgbClr val="CCE5FF"/>
                </a:solidFill>
                <a:latin typeface="Calibri"/>
              </a:rPr>
              <a:t>Achieves all 8 project objectives defined in the SRS and design 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960120"/>
            <a:ext cx="3474720" cy="4114800"/>
          </a:xfrm>
          <a:prstGeom prst="rect">
            <a:avLst/>
          </a:prstGeom>
          <a:solidFill>
            <a:srgbClr val="0D2B3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097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8FF"/>
                </a:solidFill>
                <a:latin typeface="Calibri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310896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9933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Ayush Santosh Toraskar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Roll No: CS-9147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44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TY BSc CS / Division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198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D.G. Ruparel College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895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Academic Year: 2026-27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49240"/>
            <a:ext cx="7772400" cy="82296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9D353"/>
                </a:solidFill>
                <a:latin typeface="Calibri"/>
              </a:rPr>
              <a:t>Viva Ready: Questions about TSP vs OSRM, Current vs Proposed DB, Route Locking, Authentication, File Uploads, REST API endpoints -- all covered in speaker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